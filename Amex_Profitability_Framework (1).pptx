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22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headline: we built an explainable profitability equation, not a black box, ranking all 500K Premier Cardmembers.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objective, approach, outcome, and the one achievement judges should remember: fully explainable, deployable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'so what' — Amex can't see true profit, so this translates behavior into a usable, actionable rank.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that all 23 attributes are anonymized; no PII or identifiers were used in the equation, per competition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Correlation heatmap shows spend fields move together; risk is independent — justifying separate revenue and risk terms in the equation.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Missing data was treated as business signal, not defect — explain the fill choices briefly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engineered feature is rank- or ratio-based, keeping the model robust to outliers and interpretable to business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pipeline left to right; note winsorization and rank normalization were key robustness choices.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moment to slow down — explain each weight in plain language, especially why Expected Loss offsets Customer Value 1:1.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Risk and Cost act as separate drag terms — this is why the equation resists gaming.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Distribution is right-skewed with a clear top 20% — this maps directly to Amex's stated accuracy evaluation criterion.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real top-10 IDs and scores from our submission file — grounded in the model, not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recommendation directly back to a specific engineered feature — that linkage is what makes this actionable.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this as a roadmap, not a criticism of the current approach — explainability was a deliberate Round 1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confidence — reiterate explainability, business grounding, and scalability as the three judging differentiators.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real-heatmap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real-missing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8" Type="http://schemas.openxmlformats.org/officeDocument/2006/relationships/image" Target="../media/real-driver1.png"/><Relationship Id="rId9" Type="http://schemas.openxmlformats.org/officeDocument/2006/relationships/image" Target="../media/real-driver2.png"/><Relationship Id="rId10" Type="http://schemas.openxmlformats.org/officeDocument/2006/relationships/image" Target="../media/real-driver3.png"/><Relationship Id="rId11" Type="http://schemas.openxmlformats.org/officeDocument/2006/relationships/image" Target="../media/real-driver4.png"/><Relationship Id="rId2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image" Target="../media/image-10-3.png"/><Relationship Id="rId5" Type="http://schemas.openxmlformats.org/officeDocument/2006/relationships/image" Target="../media/image-10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4" Type="http://schemas.openxmlformats.org/officeDocument/2006/relationships/image" Target="../media/real-histogram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real-appendix1.png"/><Relationship Id="rId3" Type="http://schemas.openxmlformats.org/officeDocument/2006/relationships/image" Target="../media/real-appendix2.png"/><Relationship Id="rId4" Type="http://schemas.openxmlformats.org/officeDocument/2006/relationships/image" Target="../media/real-appendix3.png"/><Relationship Id="rId5" Type="http://schemas.openxmlformats.org/officeDocument/2006/relationships/image" Target="../media/real-table.png"/><Relationship Id="rId6" Type="http://schemas.openxmlformats.org/officeDocument/2006/relationships/image" Target="../media/real-appendix4.png"/><Relationship Id="rId7" Type="http://schemas.openxmlformats.org/officeDocument/2006/relationships/image" Target="../media/real-appendix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7955280" y="-1371600"/>
            <a:ext cx="5943600" cy="5943600"/>
          </a:xfrm>
          <a:prstGeom prst="roundRect">
            <a:avLst>
              <a:gd name="adj" fmla="val 9231"/>
            </a:avLst>
          </a:prstGeom>
          <a:solidFill>
            <a:srgbClr val="006FC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8778240" y="-548640"/>
            <a:ext cx="5943600" cy="5943600"/>
          </a:xfrm>
          <a:prstGeom prst="roundRect">
            <a:avLst>
              <a:gd name="adj" fmla="val 9231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C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EXPRESS CAMPUS CHALLENGE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Profitability Ranking Framework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profitability scoring model built on financial, behavioral, and risk signals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rank-order 500,000 Premier Cardmembers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2194560" cy="0"/>
          </a:xfrm>
          <a:prstGeom prst="line">
            <a:avLst/>
          </a:prstGeom>
          <a:noFill/>
          <a:ln w="12700">
            <a:solidFill>
              <a:srgbClr val="3D6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51937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____________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 |  Data-Driven Analytical Submission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scalable, explainable framework to rank cardmember profitability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3288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7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56232"/>
            <a:ext cx="713232" cy="713232"/>
          </a:xfrm>
          <a:prstGeom prst="ellipse">
            <a:avLst/>
          </a:prstGeom>
          <a:solidFill>
            <a:srgbClr val="EAF3FC"/>
          </a:solidFill>
          <a:ln/>
        </p:spPr>
      </p:sp>
      <p:pic>
        <p:nvPicPr>
          <p:cNvPr id="6" name="Image 0" descr="/home/claude/work/icons/objecti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8424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79192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044952"/>
            <a:ext cx="198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500,000 Premier Cardmembers by profitability to inform retention, upsell, and risk strategy — without an available profit label.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01568" y="1600200"/>
            <a:ext cx="253288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733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75888" y="1856232"/>
            <a:ext cx="713232" cy="713232"/>
          </a:xfrm>
          <a:prstGeom prst="ellipse">
            <a:avLst/>
          </a:prstGeom>
          <a:solidFill>
            <a:srgbClr val="EAF3FC"/>
          </a:solidFill>
          <a:ln/>
        </p:spPr>
      </p:sp>
      <p:pic>
        <p:nvPicPr>
          <p:cNvPr id="11" name="Image 1" descr="/home/claude/work/icons/appro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904" y="198424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75888" y="2679192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75888" y="3044952"/>
            <a:ext cx="198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revenue, engagement, benefit efficiency, and risk-adjusted spend into one transparent, rank-based scoring equation.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54496" y="1600200"/>
            <a:ext cx="253288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733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28816" y="1856232"/>
            <a:ext cx="713232" cy="713232"/>
          </a:xfrm>
          <a:prstGeom prst="ellipse">
            <a:avLst/>
          </a:prstGeom>
          <a:solidFill>
            <a:srgbClr val="EAF3FC"/>
          </a:solidFill>
          <a:ln/>
        </p:spPr>
      </p:sp>
      <p:pic>
        <p:nvPicPr>
          <p:cNvPr id="16" name="Image 2" descr="/home/claude/work/icons/out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198424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28816" y="2679192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Outcome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528816" y="3044952"/>
            <a:ext cx="198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 scored on a continuous 0–4 profitability scale, fully rank-ordered and reproducible on unseen data.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07424" y="1600200"/>
            <a:ext cx="253288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733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81744" y="1856232"/>
            <a:ext cx="713232" cy="713232"/>
          </a:xfrm>
          <a:prstGeom prst="ellipse">
            <a:avLst/>
          </a:prstGeom>
          <a:solidFill>
            <a:srgbClr val="EAF3FC"/>
          </a:solidFill>
          <a:ln/>
        </p:spPr>
      </p:sp>
      <p:pic>
        <p:nvPicPr>
          <p:cNvPr id="21" name="Image 3" descr="/home/claude/work/icons/achiev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1984248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81744" y="2679192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381744" y="3044952"/>
            <a:ext cx="198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explainable, auditable model — no black-box ML — built for real-world deployment at issuer scale.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160520"/>
            <a:ext cx="11091672" cy="1737360"/>
          </a:xfrm>
          <a:prstGeom prst="roundRect">
            <a:avLst>
              <a:gd name="adj" fmla="val 4737"/>
            </a:avLst>
          </a:prstGeom>
          <a:solidFill>
            <a:srgbClr val="F5F7FA"/>
          </a:solidFill>
          <a:ln/>
        </p:spPr>
      </p:sp>
      <p:sp>
        <p:nvSpPr>
          <p:cNvPr id="25" name="Text 19"/>
          <p:cNvSpPr/>
          <p:nvPr/>
        </p:nvSpPr>
        <p:spPr>
          <a:xfrm>
            <a:off x="548640" y="4453128"/>
            <a:ext cx="27729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</a:t>
            </a:r>
            <a:endParaRPr lang="en-US" sz="4000" dirty="0"/>
          </a:p>
        </p:txBody>
      </p:sp>
      <p:sp>
        <p:nvSpPr>
          <p:cNvPr id="26" name="Text 20"/>
          <p:cNvSpPr/>
          <p:nvPr/>
        </p:nvSpPr>
        <p:spPr>
          <a:xfrm>
            <a:off x="777240" y="5257800"/>
            <a:ext cx="23157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Cardmembers ranked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3321558" y="4453128"/>
            <a:ext cx="27729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4000" dirty="0"/>
          </a:p>
        </p:txBody>
      </p:sp>
      <p:sp>
        <p:nvSpPr>
          <p:cNvPr id="28" name="Text 22"/>
          <p:cNvSpPr/>
          <p:nvPr/>
        </p:nvSpPr>
        <p:spPr>
          <a:xfrm>
            <a:off x="3550158" y="5257800"/>
            <a:ext cx="23157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attributes analyzed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3321558" y="4480560"/>
            <a:ext cx="0" cy="109728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094476" y="4453128"/>
            <a:ext cx="27729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31" name="Text 25"/>
          <p:cNvSpPr/>
          <p:nvPr/>
        </p:nvSpPr>
        <p:spPr>
          <a:xfrm>
            <a:off x="6323076" y="5257800"/>
            <a:ext cx="23157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profitability drivers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6094476" y="4480560"/>
            <a:ext cx="0" cy="109728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8867394" y="4453128"/>
            <a:ext cx="27729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34" name="Text 28"/>
          <p:cNvSpPr/>
          <p:nvPr/>
        </p:nvSpPr>
        <p:spPr>
          <a:xfrm>
            <a:off x="9095994" y="5257800"/>
            <a:ext cx="23157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scoring equation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8867394" y="4480560"/>
            <a:ext cx="0" cy="109728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7159752" y="6473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Express Campus Challenge 2026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ranking cardmember profitability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160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Amex cannot observe true customer profit directly. Round 1 asks us to translate raw spend, benefit, engagement, and risk signals into one explainable score — so the issuer can prioritize the cardmembers who matter most to long-term value.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4160520" cy="2148840"/>
          </a:xfrm>
          <a:prstGeom prst="roundRect">
            <a:avLst>
              <a:gd name="adj" fmla="val 3830"/>
            </a:avLst>
          </a:prstGeom>
          <a:solidFill>
            <a:srgbClr val="EAF3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4462272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reliable profitability rank lets Amex focus retention budget, credit line strategy, and reward economics on cardmembers who drive the most sustainable value — while flagging risk early.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257800" y="1371600"/>
            <a:ext cx="6355080" cy="713232"/>
          </a:xfrm>
          <a:prstGeom prst="roundRect">
            <a:avLst>
              <a:gd name="adj" fmla="val 10256"/>
            </a:avLst>
          </a:prstGeom>
          <a:solidFill>
            <a:srgbClr val="002D62"/>
          </a:solidFill>
          <a:ln/>
          <a:effectLst>
            <a:outerShdw sx="100000" sy="100000" kx="0" ky="0" algn="bl" rotWithShape="0" blurRad="127000" dist="38100" dir="5400000">
              <a:srgbClr val="1A2733">
                <a:alpha val="12000"/>
              </a:srgbClr>
            </a:outerShdw>
          </a:effectLst>
        </p:spPr>
      </p:sp>
      <p:pic>
        <p:nvPicPr>
          <p:cNvPr id="9" name="Image 0" descr="/home/claude/work/icons/custom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8968" y="1536192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035040" y="145389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035040" y="1764792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+ revolving balance behavior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161020" y="208940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257800" y="2304288"/>
            <a:ext cx="6355080" cy="713232"/>
          </a:xfrm>
          <a:prstGeom prst="roundRect">
            <a:avLst>
              <a:gd name="adj" fmla="val 10256"/>
            </a:avLst>
          </a:prstGeom>
          <a:solidFill>
            <a:srgbClr val="002D62"/>
          </a:solidFill>
          <a:ln/>
          <a:effectLst>
            <a:outerShdw sx="100000" sy="100000" kx="0" ky="0" algn="bl" rotWithShape="0" blurRad="127000" dist="38100" dir="5400000">
              <a:srgbClr val="1A2733">
                <a:alpha val="12000"/>
              </a:srgbClr>
            </a:outerShdw>
          </a:effectLst>
        </p:spPr>
      </p:sp>
      <p:pic>
        <p:nvPicPr>
          <p:cNvPr id="14" name="Image 1" descr="/home/claude/work/icons/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68" y="246888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035040" y="238658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035040" y="269748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Industry-level spend &amp; balances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8161020" y="302209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257800" y="3236976"/>
            <a:ext cx="6355080" cy="713232"/>
          </a:xfrm>
          <a:prstGeom prst="roundRect">
            <a:avLst>
              <a:gd name="adj" fmla="val 10256"/>
            </a:avLst>
          </a:prstGeom>
          <a:solidFill>
            <a:srgbClr val="002D62"/>
          </a:solidFill>
          <a:ln/>
          <a:effectLst>
            <a:outerShdw sx="100000" sy="100000" kx="0" ky="0" algn="bl" rotWithShape="0" blurRad="127000" dist="38100" dir="5400000">
              <a:srgbClr val="1A2733">
                <a:alpha val="12000"/>
              </a:srgbClr>
            </a:outerShdw>
          </a:effectLst>
        </p:spPr>
      </p:sp>
      <p:pic>
        <p:nvPicPr>
          <p:cNvPr id="19" name="Image 2" descr="/home/claude/work/icons/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968" y="3401568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035040" y="331927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035040" y="3630168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reward redemption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161020" y="395478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257800" y="4169664"/>
            <a:ext cx="6355080" cy="713232"/>
          </a:xfrm>
          <a:prstGeom prst="roundRect">
            <a:avLst>
              <a:gd name="adj" fmla="val 10256"/>
            </a:avLst>
          </a:prstGeom>
          <a:solidFill>
            <a:srgbClr val="002D62"/>
          </a:solidFill>
          <a:ln/>
          <a:effectLst>
            <a:outerShdw sx="100000" sy="100000" kx="0" ky="0" algn="bl" rotWithShape="0" blurRad="127000" dist="38100" dir="5400000">
              <a:srgbClr val="1A2733">
                <a:alpha val="12000"/>
              </a:srgbClr>
            </a:outerShdw>
          </a:effectLst>
        </p:spPr>
      </p:sp>
      <p:pic>
        <p:nvPicPr>
          <p:cNvPr id="24" name="Image 3" descr="/home/claude/work/icons/ri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968" y="4334256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035040" y="42519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035040" y="4562856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Riskiness score &amp; expected loss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8161020" y="488746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257800" y="5102352"/>
            <a:ext cx="6355080" cy="713232"/>
          </a:xfrm>
          <a:prstGeom prst="roundRect">
            <a:avLst>
              <a:gd name="adj" fmla="val 10256"/>
            </a:avLst>
          </a:prstGeom>
          <a:solidFill>
            <a:srgbClr val="006FCF"/>
          </a:solidFill>
          <a:ln/>
          <a:effectLst>
            <a:outerShdw sx="100000" sy="100000" kx="0" ky="0" algn="bl" rotWithShape="0" blurRad="127000" dist="38100" dir="5400000">
              <a:srgbClr val="1A2733">
                <a:alpha val="12000"/>
              </a:srgbClr>
            </a:outerShdw>
          </a:effectLst>
        </p:spPr>
      </p:sp>
      <p:pic>
        <p:nvPicPr>
          <p:cNvPr id="29" name="Image 4" descr="/home/claude/work/icons/profitabil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968" y="5266944"/>
            <a:ext cx="384048" cy="38404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035040" y="518464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6035040" y="5495544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rank-ordered score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7159752" y="6473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Express Campus Challenge 2026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500,000 cardmembers, 23 anonymized behavioral attributes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32888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7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10512"/>
            <a:ext cx="713232" cy="713232"/>
          </a:xfrm>
          <a:prstGeom prst="ellipse">
            <a:avLst/>
          </a:prstGeom>
          <a:solidFill>
            <a:srgbClr val="EAF3FC"/>
          </a:solidFill>
          <a:ln/>
        </p:spPr>
      </p:sp>
      <p:pic>
        <p:nvPicPr>
          <p:cNvPr id="6" name="Image 0" descr="/home/claude/work/icons/datase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3852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33472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500,000 Records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999232"/>
            <a:ext cx="198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unique Premier Cardmember identifier; no rows added or removed.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01568" y="1554480"/>
            <a:ext cx="2532888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733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75888" y="1810512"/>
            <a:ext cx="713232" cy="713232"/>
          </a:xfrm>
          <a:prstGeom prst="ellipse">
            <a:avLst/>
          </a:prstGeom>
          <a:solidFill>
            <a:srgbClr val="EAF3FC"/>
          </a:solidFill>
          <a:ln/>
        </p:spPr>
      </p:sp>
      <p:pic>
        <p:nvPicPr>
          <p:cNvPr id="11" name="Image 1" descr="/home/claude/work/icons/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904" y="193852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75888" y="2633472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Attributes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75888" y="2999232"/>
            <a:ext cx="198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variables (f1–f23) spanning spend, benefits, engagement, and risk.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54496" y="1554480"/>
            <a:ext cx="2532888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733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28816" y="1810512"/>
            <a:ext cx="713232" cy="713232"/>
          </a:xfrm>
          <a:prstGeom prst="ellipse">
            <a:avLst/>
          </a:prstGeom>
          <a:solidFill>
            <a:srgbClr val="EAF3FC"/>
          </a:solidFill>
          <a:ln/>
        </p:spPr>
      </p:sp>
      <p:pic>
        <p:nvPicPr>
          <p:cNvPr id="16" name="Image 2" descr="/home/claude/work/icons/mis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193852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28816" y="2633472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Missingness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528816" y="2999232"/>
            <a:ext cx="198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features carry missing values — largely structural, not random (see next slide).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07424" y="1554480"/>
            <a:ext cx="2532888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733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81744" y="1810512"/>
            <a:ext cx="713232" cy="713232"/>
          </a:xfrm>
          <a:prstGeom prst="ellipse">
            <a:avLst/>
          </a:prstGeom>
          <a:solidFill>
            <a:srgbClr val="EAF3FC"/>
          </a:solidFill>
          <a:ln/>
        </p:spPr>
      </p:sp>
      <p:pic>
        <p:nvPicPr>
          <p:cNvPr id="21" name="Image 3" descr="/home/claude/work/icons/corre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1938528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81744" y="2633472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Signal Strength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381744" y="2999232"/>
            <a:ext cx="198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and balance fields are highly correlated; risk and engagement fields are largely independent.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3886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Categories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70248"/>
          <a:ext cx="11091672" cy="2148840"/>
        </p:xfrm>
        <a:graphic>
          <a:graphicData uri="http://schemas.openxmlformats.org/drawingml/2006/table">
            <a:tbl>
              <a:tblPr/>
              <a:tblGrid>
                <a:gridCol w="2926080"/>
                <a:gridCol w="5422392"/>
                <a:gridCol w="27432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Signal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Attributes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Spend &amp; Balance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Industry-level spend and revolving behavior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f1, f5–f10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 Usage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Lounge visits, cab-credit utilization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f13–f16, f21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Tenure, website logins, cards held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f12, f19, f20, f22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Profile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Riskiness score, cancellation calls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f3, f11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7159752" y="6473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Express Campus Challenge 2026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and balance signals move together; risk is largely independent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38912" y="1353312"/>
            <a:ext cx="6528816" cy="4654296"/>
          </a:xfrm>
          <a:prstGeom prst="roundRect">
            <a:avLst>
              <a:gd name="adj" fmla="val 117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38100" dir="5400000">
              <a:srgbClr val="1A2733">
                <a:alpha val="12000"/>
              </a:srgbClr>
            </a:outerShdw>
          </a:effectLst>
        </p:spPr>
      </p:sp>
      <p:pic>
        <p:nvPicPr>
          <p:cNvPr id="5" name="Image 0" descr="/home/claude/work/assets/correlation_heatmap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17320" y="1463040"/>
            <a:ext cx="4572120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350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— Feature correlation heatmap (23 attributes)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178040" y="1508760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178040" y="1965960"/>
            <a:ext cx="100584" cy="100584"/>
          </a:xfrm>
          <a:prstGeom prst="ellipse">
            <a:avLst/>
          </a:prstGeom>
          <a:solidFill>
            <a:srgbClr val="006FCF"/>
          </a:solidFill>
          <a:ln/>
        </p:spPr>
      </p:sp>
      <p:sp>
        <p:nvSpPr>
          <p:cNvPr id="9" name="Text 6"/>
          <p:cNvSpPr/>
          <p:nvPr/>
        </p:nvSpPr>
        <p:spPr>
          <a:xfrm>
            <a:off x="7434072" y="184708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attributes (f5–f10) are strongly inter-correlated — customers who spend more in one category tend to spend more broadly.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178040" y="2990088"/>
            <a:ext cx="100584" cy="100584"/>
          </a:xfrm>
          <a:prstGeom prst="ellipse">
            <a:avLst/>
          </a:prstGeom>
          <a:solidFill>
            <a:srgbClr val="006FCF"/>
          </a:solidFill>
          <a:ln/>
        </p:spPr>
      </p:sp>
      <p:sp>
        <p:nvSpPr>
          <p:cNvPr id="11" name="Text 8"/>
          <p:cNvSpPr/>
          <p:nvPr/>
        </p:nvSpPr>
        <p:spPr>
          <a:xfrm>
            <a:off x="7434072" y="2871216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Revolving balance (f1) correlates with overall spend, making it a strong standalone proxy for revenue potential.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178040" y="4014216"/>
            <a:ext cx="100584" cy="100584"/>
          </a:xfrm>
          <a:prstGeom prst="ellipse">
            <a:avLst/>
          </a:prstGeom>
          <a:solidFill>
            <a:srgbClr val="006FCF"/>
          </a:solidFill>
          <a:ln/>
        </p:spPr>
      </p:sp>
      <p:sp>
        <p:nvSpPr>
          <p:cNvPr id="13" name="Text 10"/>
          <p:cNvSpPr/>
          <p:nvPr/>
        </p:nvSpPr>
        <p:spPr>
          <a:xfrm>
            <a:off x="7434072" y="3895344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redemption behavior (f21) represents a distinct cost signal, largely uncorrelated with spend.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5038344"/>
            <a:ext cx="100584" cy="100584"/>
          </a:xfrm>
          <a:prstGeom prst="ellipse">
            <a:avLst/>
          </a:prstGeom>
          <a:solidFill>
            <a:srgbClr val="006FCF"/>
          </a:solidFill>
          <a:ln/>
        </p:spPr>
      </p:sp>
      <p:sp>
        <p:nvSpPr>
          <p:cNvPr id="15" name="Text 12"/>
          <p:cNvSpPr/>
          <p:nvPr/>
        </p:nvSpPr>
        <p:spPr>
          <a:xfrm>
            <a:off x="7434072" y="491947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Riskiness score (f11) moves independently of spend — profitability must weigh revenue and risk separately, not as one axis.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159752" y="6473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Express Campus Challenge 2026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is structural — and treated as a business signal, not noise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38912" y="1307592"/>
            <a:ext cx="6528816" cy="3739896"/>
          </a:xfrm>
          <a:prstGeom prst="roundRect">
            <a:avLst>
              <a:gd name="adj" fmla="val 14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38100" dir="5400000">
              <a:srgbClr val="1A2733">
                <a:alpha val="12000"/>
              </a:srgbClr>
            </a:outerShdw>
          </a:effectLst>
        </p:spPr>
      </p:sp>
      <p:pic>
        <p:nvPicPr>
          <p:cNvPr id="5" name="Image 0" descr="/home/claude/work/assets/missing_value_heatmap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30876" y="1417320"/>
            <a:ext cx="4544888" cy="3520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0749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— Missing value pattern across all 500K records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5394960"/>
            <a:ext cx="6309360" cy="502920"/>
          </a:xfrm>
          <a:prstGeom prst="roundRect">
            <a:avLst>
              <a:gd name="adj" fmla="val 10909"/>
            </a:avLst>
          </a:prstGeom>
          <a:solidFill>
            <a:srgbClr val="EAF3FC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3949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≠ bad data: a null in benefit-usage fields typically means the benefit was never used — a signal in itself.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178040" y="1554480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Decisions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965960"/>
          <a:ext cx="4462272" cy="3931920"/>
        </p:xfrm>
        <a:graphic>
          <a:graphicData uri="http://schemas.openxmlformats.org/drawingml/2006/table">
            <a:tbl>
              <a:tblPr/>
              <a:tblGrid>
                <a:gridCol w="1691640"/>
                <a:gridCol w="960120"/>
                <a:gridCol w="1810512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Group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2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 (f6–f10)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transaction recorded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Benefits (f13–f16, f21)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 not utilized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(f11)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 central tendency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(f12,f19,f20)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/ mode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 distribution shape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(f23)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&gt;90% missing, low signal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Analysis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159752" y="6473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Express Campus Challenge 2026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engineered features translate raw attributes into business logic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3246120"/>
        </p:xfrm>
        <a:graphic>
          <a:graphicData uri="http://schemas.openxmlformats.org/drawingml/2006/table">
            <a:tbl>
              <a:tblPr/>
              <a:tblGrid>
                <a:gridCol w="1920240"/>
                <a:gridCol w="4480560"/>
                <a:gridCol w="4690872"/>
              </a:tblGrid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2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Rank(f1) + Rank(Total Spend f5–f10)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revenue potential from spend and balances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Engagement_Score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Rank(f12) + Rank(f19) + Rank(f20) + Rank(f22)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 and depth of the customer relationship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Premium_Efficiency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Customer_Value ÷ (Premium Usage + 1)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generated per unit of benefit consumed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Risk_Adjusted_Spend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Spend × (1 − Riskiness Score)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 quality, discounted for credit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Expected_Loss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Riskiness Score × Rank(f1)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credit loss exposure per customer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98348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EAF3FC"/>
          </a:solidFill>
          <a:ln/>
        </p:spPr>
      </p:sp>
      <p:pic>
        <p:nvPicPr>
          <p:cNvPr id="6" name="Image 0" descr="/home/claude/work/icons/ins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285232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5120640"/>
            <a:ext cx="10085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engineered feature is rank- or ratio-based rather than raw-value-based — keeping the framework robust to outliers and directly interpretable by business stakeholders.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159752" y="6473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Express Campus Challenge 2026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SCORING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seven-stage process from raw data to final score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002D62"/>
          </a:solidFill>
          <a:ln/>
          <a:effectLst>
            <a:outerShdw sx="100000" sy="100000" kx="0" ky="0" algn="bl" rotWithShape="0" blurRad="127000" dist="38100" dir="5400000">
              <a:srgbClr val="1A2733">
                <a:alpha val="12000"/>
              </a:srgbClr>
            </a:outerShdw>
          </a:effectLst>
        </p:spPr>
      </p:sp>
      <p:pic>
        <p:nvPicPr>
          <p:cNvPr id="5" name="Image 0" descr="/home/claude/work/icons/datase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253288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" y="3044952"/>
            <a:ext cx="1563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965960" y="2839212"/>
            <a:ext cx="19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161032" y="233172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002D62"/>
          </a:solidFill>
          <a:ln/>
          <a:effectLst>
            <a:outerShdw sx="100000" sy="100000" kx="0" ky="0" algn="bl" rotWithShape="0" blurRad="127000" dist="38100" dir="5400000">
              <a:srgbClr val="1A2733">
                <a:alpha val="12000"/>
              </a:srgbClr>
            </a:outerShdw>
          </a:effectLst>
        </p:spPr>
      </p:sp>
      <p:pic>
        <p:nvPicPr>
          <p:cNvPr id="9" name="Image 1" descr="/home/claude/work/icons/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380" y="253288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87880" y="3044952"/>
            <a:ext cx="1563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578352" y="2839212"/>
            <a:ext cx="19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3773424" y="233172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002D62"/>
          </a:solidFill>
          <a:ln/>
          <a:effectLst>
            <a:outerShdw sx="100000" sy="100000" kx="0" ky="0" algn="bl" rotWithShape="0" blurRad="127000" dist="38100" dir="5400000">
              <a:srgbClr val="1A2733">
                <a:alpha val="12000"/>
              </a:srgbClr>
            </a:outerShdw>
          </a:effectLst>
        </p:spPr>
      </p:sp>
      <p:pic>
        <p:nvPicPr>
          <p:cNvPr id="13" name="Image 2" descr="/home/claude/work/icons/mis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772" y="2532888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00272" y="3044952"/>
            <a:ext cx="1563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5190744" y="2839212"/>
            <a:ext cx="19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5385816" y="233172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002D62"/>
          </a:solidFill>
          <a:ln/>
          <a:effectLst>
            <a:outerShdw sx="100000" sy="100000" kx="0" ky="0" algn="bl" rotWithShape="0" blurRad="127000" dist="38100" dir="5400000">
              <a:srgbClr val="1A2733">
                <a:alpha val="12000"/>
              </a:srgbClr>
            </a:outerShdw>
          </a:effectLst>
        </p:spPr>
      </p:sp>
      <p:pic>
        <p:nvPicPr>
          <p:cNvPr id="17" name="Image 3" descr="/home/claude/work/icons/clea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164" y="2532888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12664" y="3044952"/>
            <a:ext cx="1563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6803136" y="2839212"/>
            <a:ext cx="19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4"/>
          <p:cNvSpPr/>
          <p:nvPr/>
        </p:nvSpPr>
        <p:spPr>
          <a:xfrm>
            <a:off x="6998208" y="233172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002D62"/>
          </a:solidFill>
          <a:ln/>
          <a:effectLst>
            <a:outerShdw sx="100000" sy="100000" kx="0" ky="0" algn="bl" rotWithShape="0" blurRad="127000" dist="38100" dir="5400000">
              <a:srgbClr val="1A2733">
                <a:alpha val="12000"/>
              </a:srgbClr>
            </a:outerShdw>
          </a:effectLst>
        </p:spPr>
      </p:sp>
      <p:pic>
        <p:nvPicPr>
          <p:cNvPr id="21" name="Image 4" descr="/home/claude/work/icons/ra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6556" y="2532888"/>
            <a:ext cx="420624" cy="4206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25056" y="3044952"/>
            <a:ext cx="1563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8415528" y="2839212"/>
            <a:ext cx="19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17"/>
          <p:cNvSpPr/>
          <p:nvPr/>
        </p:nvSpPr>
        <p:spPr>
          <a:xfrm>
            <a:off x="8610600" y="233172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002D62"/>
          </a:solidFill>
          <a:ln/>
          <a:effectLst>
            <a:outerShdw sx="100000" sy="100000" kx="0" ky="0" algn="bl" rotWithShape="0" blurRad="127000" dist="38100" dir="5400000">
              <a:srgbClr val="1A2733">
                <a:alpha val="12000"/>
              </a:srgbClr>
            </a:outerShdw>
          </a:effectLst>
        </p:spPr>
      </p:sp>
      <p:pic>
        <p:nvPicPr>
          <p:cNvPr id="25" name="Image 5" descr="/home/claude/work/icons/engineer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8948" y="2532888"/>
            <a:ext cx="420624" cy="42062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537448" y="3044952"/>
            <a:ext cx="1563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10027920" y="2839212"/>
            <a:ext cx="19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0"/>
          <p:cNvSpPr/>
          <p:nvPr/>
        </p:nvSpPr>
        <p:spPr>
          <a:xfrm>
            <a:off x="10222992" y="233172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006FCF"/>
          </a:solidFill>
          <a:ln/>
          <a:effectLst>
            <a:outerShdw sx="100000" sy="100000" kx="0" ky="0" algn="bl" rotWithShape="0" blurRad="127000" dist="38100" dir="5400000">
              <a:srgbClr val="1A2733">
                <a:alpha val="12000"/>
              </a:srgbClr>
            </a:outerShdw>
          </a:effectLst>
        </p:spPr>
      </p:sp>
      <p:pic>
        <p:nvPicPr>
          <p:cNvPr id="29" name="Image 6" descr="/home/claude/work/icons/fin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21340" y="2532888"/>
            <a:ext cx="420624" cy="42062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149840" y="3044952"/>
            <a:ext cx="1563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548640" y="4389120"/>
            <a:ext cx="11091672" cy="1554480"/>
          </a:xfrm>
          <a:prstGeom prst="roundRect">
            <a:avLst>
              <a:gd name="adj" fmla="val 5294"/>
            </a:avLst>
          </a:prstGeom>
          <a:solidFill>
            <a:srgbClr val="F5F7FA"/>
          </a:solidFill>
          <a:ln/>
        </p:spPr>
      </p:sp>
      <p:sp>
        <p:nvSpPr>
          <p:cNvPr id="32" name="Shape 23"/>
          <p:cNvSpPr/>
          <p:nvPr/>
        </p:nvSpPr>
        <p:spPr>
          <a:xfrm>
            <a:off x="822960" y="4617720"/>
            <a:ext cx="91440" cy="91440"/>
          </a:xfrm>
          <a:prstGeom prst="ellipse">
            <a:avLst/>
          </a:prstGeom>
          <a:solidFill>
            <a:srgbClr val="006FCF"/>
          </a:solidFill>
          <a:ln/>
        </p:spPr>
      </p:sp>
      <p:sp>
        <p:nvSpPr>
          <p:cNvPr id="33" name="Text 24"/>
          <p:cNvSpPr/>
          <p:nvPr/>
        </p:nvSpPr>
        <p:spPr>
          <a:xfrm>
            <a:off x="1051560" y="4535424"/>
            <a:ext cx="10268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Winsorized spend and balance fields at the 1st/99th percentile to limit outlier distortion.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822960" y="5047488"/>
            <a:ext cx="91440" cy="91440"/>
          </a:xfrm>
          <a:prstGeom prst="ellipse">
            <a:avLst/>
          </a:prstGeom>
          <a:solidFill>
            <a:srgbClr val="006FCF"/>
          </a:solidFill>
          <a:ln/>
        </p:spPr>
      </p:sp>
      <p:sp>
        <p:nvSpPr>
          <p:cNvPr id="35" name="Text 26"/>
          <p:cNvSpPr/>
          <p:nvPr/>
        </p:nvSpPr>
        <p:spPr>
          <a:xfrm>
            <a:off x="1051560" y="4965192"/>
            <a:ext cx="10268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skewed raw values to percentile ranks — scale-free and resistant to extreme values.</a:t>
            </a:r>
            <a:endParaRPr lang="en-US" sz="1150" dirty="0"/>
          </a:p>
        </p:txBody>
      </p:sp>
      <p:sp>
        <p:nvSpPr>
          <p:cNvPr id="36" name="Shape 27"/>
          <p:cNvSpPr/>
          <p:nvPr/>
        </p:nvSpPr>
        <p:spPr>
          <a:xfrm>
            <a:off x="822960" y="5477256"/>
            <a:ext cx="91440" cy="91440"/>
          </a:xfrm>
          <a:prstGeom prst="ellipse">
            <a:avLst/>
          </a:prstGeom>
          <a:solidFill>
            <a:srgbClr val="006FCF"/>
          </a:solidFill>
          <a:ln/>
        </p:spPr>
      </p:sp>
      <p:sp>
        <p:nvSpPr>
          <p:cNvPr id="37" name="Text 28"/>
          <p:cNvSpPr/>
          <p:nvPr/>
        </p:nvSpPr>
        <p:spPr>
          <a:xfrm>
            <a:off x="1051560" y="5394960"/>
            <a:ext cx="10268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Preserved a 70/30 split so the equation generalizes cleanly to the hidden private leaderboard.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Scoring Pipeline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7159752" y="6473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Express Campus Challenge 2026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2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C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scoring equation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013568"/>
          </a:solidFill>
          <a:ln/>
          <a:effectLst>
            <a:outerShdw sx="100000" sy="100000" kx="0" ky="0" algn="bl" rotWithShape="0" blurRad="127000" dist="38100" dir="5400000">
              <a:srgbClr val="1A27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56232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</a:t>
            </a:r>
            <a:pPr algn="ctr" indent="0" marL="0">
              <a:buNone/>
            </a:pPr>
            <a:r>
              <a:rPr lang="en-US" sz="1900" dirty="0">
                <a:solidFill>
                  <a:srgbClr val="9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=  0.40×</a:t>
            </a:r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</a:t>
            </a:r>
            <a:pPr algn="ctr" indent="0" marL="0">
              <a:buNone/>
            </a:pPr>
            <a:r>
              <a:rPr lang="en-US" sz="1900" dirty="0">
                <a:solidFill>
                  <a:srgbClr val="9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+  0.20×</a:t>
            </a:r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pPr algn="ctr" indent="0" marL="0">
              <a:buNone/>
            </a:pPr>
            <a:r>
              <a:rPr lang="en-US" sz="1900" dirty="0">
                <a:solidFill>
                  <a:srgbClr val="9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+  0.20×</a:t>
            </a:r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Efficiency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441448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9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0.20×</a:t>
            </a:r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Spend</a:t>
            </a:r>
            <a:pPr algn="ctr" indent="0" marL="0">
              <a:buNone/>
            </a:pPr>
            <a:r>
              <a:rPr lang="en-US" sz="1900" dirty="0">
                <a:solidFill>
                  <a:srgbClr val="F4B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−  0.40×</a:t>
            </a:r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Loss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1998878" cy="2788920"/>
          </a:xfrm>
          <a:prstGeom prst="roundRect">
            <a:avLst>
              <a:gd name="adj" fmla="val 4117"/>
            </a:avLst>
          </a:prstGeom>
          <a:solidFill>
            <a:srgbClr val="013568"/>
          </a:solidFill>
          <a:ln/>
        </p:spPr>
      </p:sp>
      <p:sp>
        <p:nvSpPr>
          <p:cNvPr id="8" name="Shape 6"/>
          <p:cNvSpPr/>
          <p:nvPr/>
        </p:nvSpPr>
        <p:spPr>
          <a:xfrm>
            <a:off x="1264615" y="3739896"/>
            <a:ext cx="566928" cy="566928"/>
          </a:xfrm>
          <a:prstGeom prst="ellipse">
            <a:avLst/>
          </a:prstGeom>
          <a:solidFill>
            <a:srgbClr val="006FCF"/>
          </a:solidFill>
          <a:ln/>
        </p:spPr>
      </p:sp>
      <p:pic>
        <p:nvPicPr>
          <p:cNvPr id="9" name="Image 0" descr="/home/claude/work/icons/cv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2631" y="3867912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4434840"/>
            <a:ext cx="1998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FC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58368" y="4818888"/>
            <a:ext cx="17794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85800" y="5303520"/>
            <a:ext cx="17245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long-term revenue; the single largest weight in the model.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2821838" y="3520440"/>
            <a:ext cx="1998878" cy="2788920"/>
          </a:xfrm>
          <a:prstGeom prst="roundRect">
            <a:avLst>
              <a:gd name="adj" fmla="val 4117"/>
            </a:avLst>
          </a:prstGeom>
          <a:solidFill>
            <a:srgbClr val="013568"/>
          </a:solidFill>
          <a:ln/>
        </p:spPr>
      </p:sp>
      <p:sp>
        <p:nvSpPr>
          <p:cNvPr id="14" name="Shape 11"/>
          <p:cNvSpPr/>
          <p:nvPr/>
        </p:nvSpPr>
        <p:spPr>
          <a:xfrm>
            <a:off x="3537814" y="3739896"/>
            <a:ext cx="566928" cy="566928"/>
          </a:xfrm>
          <a:prstGeom prst="ellipse">
            <a:avLst/>
          </a:prstGeom>
          <a:solidFill>
            <a:srgbClr val="006FCF"/>
          </a:solidFill>
          <a:ln/>
        </p:spPr>
      </p:sp>
      <p:pic>
        <p:nvPicPr>
          <p:cNvPr id="15" name="Image 1" descr="/home/claude/work/icons/eng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830" y="3867912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821838" y="4434840"/>
            <a:ext cx="1998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FC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2931566" y="4818888"/>
            <a:ext cx="17794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2958998" y="5303520"/>
            <a:ext cx="17245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relationships predict retention and future spend growth.</a:t>
            </a:r>
            <a:endParaRPr lang="en-US" sz="930" dirty="0"/>
          </a:p>
        </p:txBody>
      </p:sp>
      <p:sp>
        <p:nvSpPr>
          <p:cNvPr id="19" name="Shape 15"/>
          <p:cNvSpPr/>
          <p:nvPr/>
        </p:nvSpPr>
        <p:spPr>
          <a:xfrm>
            <a:off x="5095037" y="3520440"/>
            <a:ext cx="1998878" cy="2788920"/>
          </a:xfrm>
          <a:prstGeom prst="roundRect">
            <a:avLst>
              <a:gd name="adj" fmla="val 4117"/>
            </a:avLst>
          </a:prstGeom>
          <a:solidFill>
            <a:srgbClr val="013568"/>
          </a:solidFill>
          <a:ln/>
        </p:spPr>
      </p:sp>
      <p:sp>
        <p:nvSpPr>
          <p:cNvPr id="20" name="Shape 16"/>
          <p:cNvSpPr/>
          <p:nvPr/>
        </p:nvSpPr>
        <p:spPr>
          <a:xfrm>
            <a:off x="5811012" y="3739896"/>
            <a:ext cx="566928" cy="566928"/>
          </a:xfrm>
          <a:prstGeom prst="ellipse">
            <a:avLst/>
          </a:prstGeom>
          <a:solidFill>
            <a:srgbClr val="006FCF"/>
          </a:solidFill>
          <a:ln/>
        </p:spPr>
      </p:sp>
      <p:pic>
        <p:nvPicPr>
          <p:cNvPr id="21" name="Image 2" descr="/home/claude/work/icons/effici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028" y="3867912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095037" y="4434840"/>
            <a:ext cx="1998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FC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5204765" y="4818888"/>
            <a:ext cx="17794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Efficiency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5232197" y="5303520"/>
            <a:ext cx="17245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customers who create value beyond the benefits they consume.</a:t>
            </a:r>
            <a:endParaRPr lang="en-US" sz="930" dirty="0"/>
          </a:p>
        </p:txBody>
      </p:sp>
      <p:sp>
        <p:nvSpPr>
          <p:cNvPr id="25" name="Shape 20"/>
          <p:cNvSpPr/>
          <p:nvPr/>
        </p:nvSpPr>
        <p:spPr>
          <a:xfrm>
            <a:off x="7368235" y="3520440"/>
            <a:ext cx="1998878" cy="2788920"/>
          </a:xfrm>
          <a:prstGeom prst="roundRect">
            <a:avLst>
              <a:gd name="adj" fmla="val 4117"/>
            </a:avLst>
          </a:prstGeom>
          <a:solidFill>
            <a:srgbClr val="013568"/>
          </a:solidFill>
          <a:ln/>
        </p:spPr>
      </p:sp>
      <p:sp>
        <p:nvSpPr>
          <p:cNvPr id="26" name="Shape 21"/>
          <p:cNvSpPr/>
          <p:nvPr/>
        </p:nvSpPr>
        <p:spPr>
          <a:xfrm>
            <a:off x="8084210" y="3739896"/>
            <a:ext cx="566928" cy="566928"/>
          </a:xfrm>
          <a:prstGeom prst="ellipse">
            <a:avLst/>
          </a:prstGeom>
          <a:solidFill>
            <a:srgbClr val="006FCF"/>
          </a:solidFill>
          <a:ln/>
        </p:spPr>
      </p:sp>
      <p:pic>
        <p:nvPicPr>
          <p:cNvPr id="27" name="Image 3" descr="/home/claude/work/icons/riskadj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2226" y="3867912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68235" y="4434840"/>
            <a:ext cx="1998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FC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7477963" y="4818888"/>
            <a:ext cx="17794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Spend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7505395" y="5303520"/>
            <a:ext cx="17245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spend quality is discounted appropriately for credit risk.</a:t>
            </a:r>
            <a:endParaRPr lang="en-US" sz="930" dirty="0"/>
          </a:p>
        </p:txBody>
      </p:sp>
      <p:sp>
        <p:nvSpPr>
          <p:cNvPr id="31" name="Shape 25"/>
          <p:cNvSpPr/>
          <p:nvPr/>
        </p:nvSpPr>
        <p:spPr>
          <a:xfrm>
            <a:off x="9641434" y="3520440"/>
            <a:ext cx="1998878" cy="2788920"/>
          </a:xfrm>
          <a:prstGeom prst="roundRect">
            <a:avLst>
              <a:gd name="adj" fmla="val 4117"/>
            </a:avLst>
          </a:prstGeom>
          <a:solidFill>
            <a:srgbClr val="013568"/>
          </a:solidFill>
          <a:ln/>
        </p:spPr>
      </p:sp>
      <p:sp>
        <p:nvSpPr>
          <p:cNvPr id="32" name="Shape 26"/>
          <p:cNvSpPr/>
          <p:nvPr/>
        </p:nvSpPr>
        <p:spPr>
          <a:xfrm>
            <a:off x="10357409" y="3739896"/>
            <a:ext cx="566928" cy="566928"/>
          </a:xfrm>
          <a:prstGeom prst="ellipse">
            <a:avLst/>
          </a:prstGeom>
          <a:solidFill>
            <a:srgbClr val="006FCF"/>
          </a:solidFill>
          <a:ln/>
        </p:spPr>
      </p:sp>
      <p:pic>
        <p:nvPicPr>
          <p:cNvPr id="33" name="Image 4" descr="/home/claude/work/icons/expectedlo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5425" y="3867912"/>
            <a:ext cx="310896" cy="31089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641434" y="4434840"/>
            <a:ext cx="1998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B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−0.40</a:t>
            </a:r>
            <a:endParaRPr lang="en-US" sz="2000" dirty="0"/>
          </a:p>
        </p:txBody>
      </p:sp>
      <p:sp>
        <p:nvSpPr>
          <p:cNvPr id="35" name="Text 28"/>
          <p:cNvSpPr/>
          <p:nvPr/>
        </p:nvSpPr>
        <p:spPr>
          <a:xfrm>
            <a:off x="9751162" y="4818888"/>
            <a:ext cx="17794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Loss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9778594" y="5303520"/>
            <a:ext cx="17245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reduces score — risk erodes profitability at equal weight to value.</a:t>
            </a:r>
            <a:endParaRPr lang="en-US" sz="930" dirty="0"/>
          </a:p>
        </p:txBody>
      </p:sp>
      <p:sp>
        <p:nvSpPr>
          <p:cNvPr id="37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Express Campus Challenge 2026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driver families shape the final score</a:t>
            </a:r>
            <a:endParaRPr lang="en-US" sz="3000" dirty="0"/>
          </a:p>
        </p:txBody>
      </p:sp>
      <p:sp>
        <p:nvSpPr>
          <p:cNvPr id="90" name="GridCard"/>
          <p:cNvSpPr/>
          <p:nvPr/>
        </p:nvSpPr>
        <p:spPr>
          <a:xfrm>
            <a:off x="438912" y="1463040"/>
            <a:ext cx="6528816" cy="4360320"/>
          </a:xfrm>
          <a:prstGeom prst="roundRect">
            <a:avLst>
              <a:gd name="adj" fmla="val 117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38100" dir="5400000">
              <a:srgbClr val="1A2733">
                <a:alpha val="12000"/>
              </a:srgbClr>
            </a:outerShdw>
          </a:effectLst>
        </p:spPr>
      </p:sp>
      <p:pic>
        <p:nvPicPr>
          <p:cNvPr id="91" name="Revenue Drivers Chart" descr="Business contribution of engineered features"/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34481" y="1691640"/>
            <a:ext cx="2651577" cy="1645920"/>
          </a:xfrm>
          <a:prstGeom prst="rect">
            <a:avLst/>
          </a:prstGeom>
        </p:spPr>
      </p:pic>
      <p:sp>
        <p:nvSpPr>
          <p:cNvPr id="92" name="Cap Revenue"/>
          <p:cNvSpPr/>
          <p:nvPr/>
        </p:nvSpPr>
        <p:spPr>
          <a:xfrm>
            <a:off x="685800" y="3337560"/>
            <a:ext cx="2948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90"/>
                </a:solidFill>
                <a:latin typeface="Calibri" pitchFamily="34" charset="0"/>
              </a:rPr>
              <a:t>Fig. 3a — Business weight of Customer Value</a:t>
            </a:r>
          </a:p>
        </p:txBody>
      </p:sp>
      <p:pic>
        <p:nvPicPr>
          <p:cNvPr id="93" name="Cost Drivers Chart" descr="Business contribution of engineered features"/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3920581" y="1691640"/>
            <a:ext cx="2651577" cy="1645920"/>
          </a:xfrm>
          <a:prstGeom prst="rect">
            <a:avLst/>
          </a:prstGeom>
        </p:spPr>
      </p:pic>
      <p:sp>
        <p:nvSpPr>
          <p:cNvPr id="94" name="Cap Cost"/>
          <p:cNvSpPr/>
          <p:nvPr/>
        </p:nvSpPr>
        <p:spPr>
          <a:xfrm>
            <a:off x="3771900" y="3337560"/>
            <a:ext cx="2948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90"/>
                </a:solidFill>
                <a:latin typeface="Calibri" pitchFamily="34" charset="0"/>
              </a:rPr>
              <a:t>Fig. 3b — Weight of Engagement &amp; Efficiency</a:t>
            </a:r>
          </a:p>
        </p:txBody>
      </p:sp>
      <p:pic>
        <p:nvPicPr>
          <p:cNvPr id="95" name="Risk Drivers Chart" descr="Distribution of engineered risk feature"/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001542" y="3703320"/>
            <a:ext cx="2317455" cy="1645920"/>
          </a:xfrm>
          <a:prstGeom prst="rect">
            <a:avLst/>
          </a:prstGeom>
        </p:spPr>
      </p:pic>
      <p:sp>
        <p:nvSpPr>
          <p:cNvPr id="96" name="Cap Risk"/>
          <p:cNvSpPr/>
          <p:nvPr/>
        </p:nvSpPr>
        <p:spPr>
          <a:xfrm>
            <a:off x="685800" y="5349240"/>
            <a:ext cx="2948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90"/>
                </a:solidFill>
                <a:latin typeface="Calibri" pitchFamily="34" charset="0"/>
              </a:rPr>
              <a:t>Fig. 3c — Expected Loss exposure profile</a:t>
            </a:r>
          </a:p>
        </p:txBody>
      </p:sp>
      <p:pic>
        <p:nvPicPr>
          <p:cNvPr id="97" name="Relationship Drivers Chart" descr="Customer Value vs Expected Loss scatter"/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087642" y="3703320"/>
            <a:ext cx="2317455" cy="1645920"/>
          </a:xfrm>
          <a:prstGeom prst="rect">
            <a:avLst/>
          </a:prstGeom>
        </p:spPr>
      </p:pic>
      <p:sp>
        <p:nvSpPr>
          <p:cNvPr id="98" name="Cap Relationship"/>
          <p:cNvSpPr/>
          <p:nvPr/>
        </p:nvSpPr>
        <p:spPr>
          <a:xfrm>
            <a:off x="3771900" y="5349240"/>
            <a:ext cx="2948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90"/>
                </a:solidFill>
                <a:latin typeface="Calibri" pitchFamily="34" charset="0"/>
              </a:rPr>
              <a:t>Fig. 3d — Customer Value vs. Expected Loss</a:t>
            </a:r>
          </a:p>
        </p:txBody>
      </p:sp>
      <p:sp>
        <p:nvSpPr>
          <p:cNvPr id="5" name="Shape 2"/>
          <p:cNvSpPr/>
          <p:nvPr/>
        </p:nvSpPr>
        <p:spPr>
          <a:xfrm>
            <a:off x="7178040" y="1554480"/>
            <a:ext cx="457200" cy="457200"/>
          </a:xfrm>
          <a:prstGeom prst="ellipse">
            <a:avLst/>
          </a:prstGeom>
          <a:solidFill>
            <a:srgbClr val="EAF3FC"/>
          </a:solidFill>
          <a:ln/>
        </p:spPr>
      </p:sp>
      <p:pic>
        <p:nvPicPr>
          <p:cNvPr id="6" name="Image 0" descr="/home/claude/work/icons/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624" y="1655064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72400" y="1527048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Drivers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7772400" y="1819656"/>
            <a:ext cx="3867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 — spend and revolving balance.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7178040" y="2468880"/>
            <a:ext cx="457200" cy="457200"/>
          </a:xfrm>
          <a:prstGeom prst="ellipse">
            <a:avLst/>
          </a:prstGeom>
          <a:solidFill>
            <a:srgbClr val="EAF3FC"/>
          </a:solidFill>
          <a:ln/>
        </p:spPr>
      </p:sp>
      <p:pic>
        <p:nvPicPr>
          <p:cNvPr id="10" name="Image 1" descr="/home/claude/work/icons/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4" y="256946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0" y="2441448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Drivers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7772400" y="2734056"/>
            <a:ext cx="3867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Efficiency — benefit usage relative to value.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7178040" y="3383280"/>
            <a:ext cx="457200" cy="457200"/>
          </a:xfrm>
          <a:prstGeom prst="ellipse">
            <a:avLst/>
          </a:prstGeom>
          <a:solidFill>
            <a:srgbClr val="EAF3FC"/>
          </a:solidFill>
          <a:ln/>
        </p:spPr>
      </p:sp>
      <p:pic>
        <p:nvPicPr>
          <p:cNvPr id="14" name="Image 2" descr="/home/claude/work/icons/ri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624" y="3483864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772400" y="3355848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Drivers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7772400" y="3648456"/>
            <a:ext cx="3867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Loss and Risk-Adjusted Spend — credit exposure.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7178040" y="4297680"/>
            <a:ext cx="457200" cy="457200"/>
          </a:xfrm>
          <a:prstGeom prst="ellipse">
            <a:avLst/>
          </a:prstGeom>
          <a:solidFill>
            <a:srgbClr val="EAF3FC"/>
          </a:solidFill>
          <a:ln/>
        </p:spPr>
      </p:sp>
      <p:pic>
        <p:nvPicPr>
          <p:cNvPr id="18" name="Image 3" descr="/home/claude/work/icons/custom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624" y="4398264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772400" y="4270248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Drivers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7772400" y="4562856"/>
            <a:ext cx="3867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— tenure, logins, and product depth.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7159752" y="6473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Express Campus Challenge 2026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FINAL SCORES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 profitability spread with a distinct high-value tail</a:t>
            </a:r>
            <a:endParaRPr lang="en-US" sz="3000" dirty="0"/>
          </a:p>
        </p:txBody>
      </p:sp>
      <p:sp>
        <p:nvSpPr>
          <p:cNvPr id="80" name="HistCard"/>
          <p:cNvSpPr/>
          <p:nvPr/>
        </p:nvSpPr>
        <p:spPr>
          <a:xfrm>
            <a:off x="438912" y="1417320"/>
            <a:ext cx="7077696" cy="3977640"/>
          </a:xfrm>
          <a:prstGeom prst="roundRect">
            <a:avLst>
              <a:gd name="adj" fmla="val 117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38100" dir="5400000">
              <a:srgbClr val="1A2733">
                <a:alpha val="12000"/>
              </a:srgbClr>
            </a:outerShdw>
          </a:effectLst>
        </p:spPr>
      </p:sp>
      <p:pic>
        <p:nvPicPr>
          <p:cNvPr id="81" name="Final Score Distribution" descr="Distribution of Final Profitability Score histogram"/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85800" y="1780292"/>
            <a:ext cx="6583680" cy="32516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349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Profitability Score →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635240" y="1508760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635240" y="1965960"/>
            <a:ext cx="4005072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8" name="Shape 5"/>
          <p:cNvSpPr/>
          <p:nvPr/>
        </p:nvSpPr>
        <p:spPr>
          <a:xfrm>
            <a:off x="7635240" y="1965960"/>
            <a:ext cx="82296" cy="1051560"/>
          </a:xfrm>
          <a:prstGeom prst="rect">
            <a:avLst/>
          </a:prstGeom>
          <a:solidFill>
            <a:srgbClr val="006FCF"/>
          </a:solidFill>
          <a:ln/>
        </p:spPr>
      </p:sp>
      <p:sp>
        <p:nvSpPr>
          <p:cNvPr id="9" name="Text 6"/>
          <p:cNvSpPr/>
          <p:nvPr/>
        </p:nvSpPr>
        <p:spPr>
          <a:xfrm>
            <a:off x="7891272" y="2084832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91272" y="238658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20%  (score &gt; 2.60)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891272" y="265176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customers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635240" y="3172968"/>
            <a:ext cx="4005072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13" name="Shape 10"/>
          <p:cNvSpPr/>
          <p:nvPr/>
        </p:nvSpPr>
        <p:spPr>
          <a:xfrm>
            <a:off x="7635240" y="3172968"/>
            <a:ext cx="82296" cy="1051560"/>
          </a:xfrm>
          <a:prstGeom prst="rect">
            <a:avLst/>
          </a:prstGeom>
          <a:solidFill>
            <a:srgbClr val="3D6FA8"/>
          </a:solidFill>
          <a:ln/>
        </p:spPr>
      </p:sp>
      <p:sp>
        <p:nvSpPr>
          <p:cNvPr id="14" name="Text 11"/>
          <p:cNvSpPr/>
          <p:nvPr/>
        </p:nvSpPr>
        <p:spPr>
          <a:xfrm>
            <a:off x="7891272" y="3291840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Value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891272" y="359359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60%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891272" y="38587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300,000 customers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635240" y="4379976"/>
            <a:ext cx="4005072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18" name="Shape 15"/>
          <p:cNvSpPr/>
          <p:nvPr/>
        </p:nvSpPr>
        <p:spPr>
          <a:xfrm>
            <a:off x="7635240" y="4379976"/>
            <a:ext cx="82296" cy="1051560"/>
          </a:xfrm>
          <a:prstGeom prst="rect">
            <a:avLst/>
          </a:prstGeom>
          <a:solidFill>
            <a:srgbClr val="5B6B79"/>
          </a:solidFill>
          <a:ln/>
        </p:spPr>
      </p:sp>
      <p:sp>
        <p:nvSpPr>
          <p:cNvPr id="19" name="Text 16"/>
          <p:cNvSpPr/>
          <p:nvPr/>
        </p:nvSpPr>
        <p:spPr>
          <a:xfrm>
            <a:off x="7891272" y="4498848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Value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891272" y="480060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20%  (score &lt; 1.35)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891272" y="506577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customers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Final Scores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159752" y="6473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Express Campus Challenge 2026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highest-ranked cardmembers under the final score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120640" cy="4480560"/>
        </p:xfrm>
        <a:graphic>
          <a:graphicData uri="http://schemas.openxmlformats.org/drawingml/2006/table">
            <a:tbl>
              <a:tblPr/>
              <a:tblGrid>
                <a:gridCol w="914400"/>
                <a:gridCol w="2377440"/>
                <a:gridCol w="1828800"/>
              </a:tblGrid>
              <a:tr h="407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2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353856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415622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36697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421862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70951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295005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112193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92546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111395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89320" y="155448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 of Top-Ranked Customers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989320" y="2057400"/>
            <a:ext cx="100584" cy="100584"/>
          </a:xfrm>
          <a:prstGeom prst="ellipse">
            <a:avLst/>
          </a:prstGeom>
          <a:solidFill>
            <a:srgbClr val="006FCF"/>
          </a:solidFill>
          <a:ln/>
        </p:spPr>
      </p:sp>
      <p:sp>
        <p:nvSpPr>
          <p:cNvPr id="7" name="Text 4"/>
          <p:cNvSpPr/>
          <p:nvPr/>
        </p:nvSpPr>
        <p:spPr>
          <a:xfrm>
            <a:off x="6245352" y="193852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rank in the top percentile on both spend (f1, f5–f10) and Customer Value.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89320" y="2926080"/>
            <a:ext cx="100584" cy="100584"/>
          </a:xfrm>
          <a:prstGeom prst="ellipse">
            <a:avLst/>
          </a:prstGeom>
          <a:solidFill>
            <a:srgbClr val="006FCF"/>
          </a:solidFill>
          <a:ln/>
        </p:spPr>
      </p:sp>
      <p:sp>
        <p:nvSpPr>
          <p:cNvPr id="9" name="Text 6"/>
          <p:cNvSpPr/>
          <p:nvPr/>
        </p:nvSpPr>
        <p:spPr>
          <a:xfrm>
            <a:off x="6245352" y="280720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Expected Loss — a favorable balance of high revenue and low credit risk.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89320" y="3794760"/>
            <a:ext cx="100584" cy="100584"/>
          </a:xfrm>
          <a:prstGeom prst="ellipse">
            <a:avLst/>
          </a:prstGeom>
          <a:solidFill>
            <a:srgbClr val="006FCF"/>
          </a:solidFill>
          <a:ln/>
        </p:spPr>
      </p:sp>
      <p:sp>
        <p:nvSpPr>
          <p:cNvPr id="11" name="Text 8"/>
          <p:cNvSpPr/>
          <p:nvPr/>
        </p:nvSpPr>
        <p:spPr>
          <a:xfrm>
            <a:off x="6245352" y="367588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Engagement scores — frequent logins, longer tenure, multiple products held.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89320" y="4663440"/>
            <a:ext cx="100584" cy="100584"/>
          </a:xfrm>
          <a:prstGeom prst="ellipse">
            <a:avLst/>
          </a:prstGeom>
          <a:solidFill>
            <a:srgbClr val="006FCF"/>
          </a:solidFill>
          <a:ln/>
        </p:spPr>
      </p:sp>
      <p:sp>
        <p:nvSpPr>
          <p:cNvPr id="13" name="Text 10"/>
          <p:cNvSpPr/>
          <p:nvPr/>
        </p:nvSpPr>
        <p:spPr>
          <a:xfrm>
            <a:off x="6245352" y="454456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benefit usage — high Premium Efficiency relative to benefits consumed.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989320" y="5486400"/>
            <a:ext cx="5650992" cy="777240"/>
          </a:xfrm>
          <a:prstGeom prst="roundRect">
            <a:avLst>
              <a:gd name="adj" fmla="val 9412"/>
            </a:avLst>
          </a:prstGeom>
          <a:solidFill>
            <a:srgbClr val="EAF3FC"/>
          </a:solidFill>
          <a:ln/>
        </p:spPr>
      </p:sp>
      <p:sp>
        <p:nvSpPr>
          <p:cNvPr id="15" name="Text 12"/>
          <p:cNvSpPr/>
          <p:nvPr/>
        </p:nvSpPr>
        <p:spPr>
          <a:xfrm>
            <a:off x="6172200" y="5486400"/>
            <a:ext cx="5285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i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read: these customers are strong candidates for retention offers and premium upgrades — not just high spenders, but low-risk, highly engaged relationships.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159752" y="6473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Express Campus Challenge 2026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the score into four concrete actions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32888" cy="4160520"/>
          </a:xfrm>
          <a:prstGeom prst="roundRect">
            <a:avLst>
              <a:gd name="adj" fmla="val 32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7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2532888" cy="137160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91640"/>
            <a:ext cx="2532888" cy="1371600"/>
          </a:xfrm>
          <a:prstGeom prst="roundRect">
            <a:avLst>
              <a:gd name="adj" fmla="val 6000"/>
            </a:avLst>
          </a:prstGeom>
          <a:solidFill>
            <a:srgbClr val="002D6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377440"/>
            <a:ext cx="2532888" cy="68580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8" name="Shape 6"/>
          <p:cNvSpPr/>
          <p:nvPr/>
        </p:nvSpPr>
        <p:spPr>
          <a:xfrm>
            <a:off x="1485900" y="2011680"/>
            <a:ext cx="658368" cy="658368"/>
          </a:xfrm>
          <a:prstGeom prst="ellipse">
            <a:avLst/>
          </a:prstGeom>
          <a:solidFill>
            <a:srgbClr val="006FCF"/>
          </a:solidFill>
          <a:ln/>
        </p:spPr>
      </p:sp>
      <p:pic>
        <p:nvPicPr>
          <p:cNvPr id="9" name="Image 0" descr="/home/claude/work/icons/reten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204" y="2157984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743200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04672" y="3291840"/>
            <a:ext cx="20208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high-value, low-risk customers for proactive retention offers and dedicated relationship servicing before renewal windows.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401568" y="1691640"/>
            <a:ext cx="2532888" cy="4160520"/>
          </a:xfrm>
          <a:prstGeom prst="roundRect">
            <a:avLst>
              <a:gd name="adj" fmla="val 32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733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01568" y="1691640"/>
            <a:ext cx="2532888" cy="137160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14" name="Shape 11"/>
          <p:cNvSpPr/>
          <p:nvPr/>
        </p:nvSpPr>
        <p:spPr>
          <a:xfrm>
            <a:off x="3401568" y="1691640"/>
            <a:ext cx="2532888" cy="1371600"/>
          </a:xfrm>
          <a:prstGeom prst="roundRect">
            <a:avLst>
              <a:gd name="adj" fmla="val 6000"/>
            </a:avLst>
          </a:prstGeom>
          <a:solidFill>
            <a:srgbClr val="002D62"/>
          </a:solidFill>
          <a:ln/>
        </p:spPr>
      </p:sp>
      <p:sp>
        <p:nvSpPr>
          <p:cNvPr id="15" name="Shape 12"/>
          <p:cNvSpPr/>
          <p:nvPr/>
        </p:nvSpPr>
        <p:spPr>
          <a:xfrm>
            <a:off x="3401568" y="2377440"/>
            <a:ext cx="2532888" cy="68580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16" name="Shape 13"/>
          <p:cNvSpPr/>
          <p:nvPr/>
        </p:nvSpPr>
        <p:spPr>
          <a:xfrm>
            <a:off x="4338828" y="2011680"/>
            <a:ext cx="658368" cy="658368"/>
          </a:xfrm>
          <a:prstGeom prst="ellipse">
            <a:avLst/>
          </a:prstGeom>
          <a:solidFill>
            <a:srgbClr val="006FCF"/>
          </a:solidFill>
          <a:ln/>
        </p:spPr>
      </p:sp>
      <p:pic>
        <p:nvPicPr>
          <p:cNvPr id="17" name="Image 1" descr="/home/claude/work/icons/ups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132" y="2157984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01568" y="2743200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Upselling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657600" y="3291840"/>
            <a:ext cx="20208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high-spend, low-risk segments with premium product upgrades and tailored credit line increases.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254496" y="1691640"/>
            <a:ext cx="2532888" cy="4160520"/>
          </a:xfrm>
          <a:prstGeom prst="roundRect">
            <a:avLst>
              <a:gd name="adj" fmla="val 32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733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54496" y="1691640"/>
            <a:ext cx="2532888" cy="137160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22" name="Shape 18"/>
          <p:cNvSpPr/>
          <p:nvPr/>
        </p:nvSpPr>
        <p:spPr>
          <a:xfrm>
            <a:off x="6254496" y="1691640"/>
            <a:ext cx="2532888" cy="1371600"/>
          </a:xfrm>
          <a:prstGeom prst="roundRect">
            <a:avLst>
              <a:gd name="adj" fmla="val 6000"/>
            </a:avLst>
          </a:prstGeom>
          <a:solidFill>
            <a:srgbClr val="002D62"/>
          </a:solidFill>
          <a:ln/>
        </p:spPr>
      </p:sp>
      <p:sp>
        <p:nvSpPr>
          <p:cNvPr id="23" name="Shape 19"/>
          <p:cNvSpPr/>
          <p:nvPr/>
        </p:nvSpPr>
        <p:spPr>
          <a:xfrm>
            <a:off x="6254496" y="2377440"/>
            <a:ext cx="2532888" cy="68580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24" name="Shape 20"/>
          <p:cNvSpPr/>
          <p:nvPr/>
        </p:nvSpPr>
        <p:spPr>
          <a:xfrm>
            <a:off x="7191756" y="2011680"/>
            <a:ext cx="658368" cy="658368"/>
          </a:xfrm>
          <a:prstGeom prst="ellipse">
            <a:avLst/>
          </a:prstGeom>
          <a:solidFill>
            <a:srgbClr val="006FCF"/>
          </a:solidFill>
          <a:ln/>
        </p:spPr>
      </p:sp>
      <p:pic>
        <p:nvPicPr>
          <p:cNvPr id="25" name="Image 2" descr="/home/claude/work/icons/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0" y="2157984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254496" y="2743200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Monitoring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510528" y="3291840"/>
            <a:ext cx="20208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high Expected Loss customers for proactive credit monitoring and early intervention strategies.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9107424" y="1691640"/>
            <a:ext cx="2532888" cy="4160520"/>
          </a:xfrm>
          <a:prstGeom prst="roundRect">
            <a:avLst>
              <a:gd name="adj" fmla="val 32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733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107424" y="1691640"/>
            <a:ext cx="2532888" cy="137160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0" name="Shape 25"/>
          <p:cNvSpPr/>
          <p:nvPr/>
        </p:nvSpPr>
        <p:spPr>
          <a:xfrm>
            <a:off x="9107424" y="1691640"/>
            <a:ext cx="2532888" cy="1371600"/>
          </a:xfrm>
          <a:prstGeom prst="roundRect">
            <a:avLst>
              <a:gd name="adj" fmla="val 6000"/>
            </a:avLst>
          </a:prstGeom>
          <a:solidFill>
            <a:srgbClr val="002D62"/>
          </a:solidFill>
          <a:ln/>
        </p:spPr>
      </p:sp>
      <p:sp>
        <p:nvSpPr>
          <p:cNvPr id="31" name="Shape 26"/>
          <p:cNvSpPr/>
          <p:nvPr/>
        </p:nvSpPr>
        <p:spPr>
          <a:xfrm>
            <a:off x="9107424" y="2377440"/>
            <a:ext cx="2532888" cy="68580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2" name="Shape 27"/>
          <p:cNvSpPr/>
          <p:nvPr/>
        </p:nvSpPr>
        <p:spPr>
          <a:xfrm>
            <a:off x="10044684" y="2011680"/>
            <a:ext cx="658368" cy="658368"/>
          </a:xfrm>
          <a:prstGeom prst="ellipse">
            <a:avLst/>
          </a:prstGeom>
          <a:solidFill>
            <a:srgbClr val="006FCF"/>
          </a:solidFill>
          <a:ln/>
        </p:spPr>
      </p:sp>
      <p:pic>
        <p:nvPicPr>
          <p:cNvPr id="33" name="Image 3" descr="/home/claude/work/icons/rew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0988" y="2157984"/>
            <a:ext cx="365760" cy="36576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107424" y="2743200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Optimization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9363456" y="3291840"/>
            <a:ext cx="20208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reward economics for customers with low Premium Efficiency to protect margin without hurting engagement.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7159752" y="6473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Express Campus Challenge 2026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transparent equation to a leaderboard-optimized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framework is intentionally explainable and rule-based — ideal for governance and Round 1 scoring. The roadmap below shows how it can evolve toward higher leaderboard accuracy without losing interpretability.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32888" cy="2194560"/>
          </a:xfrm>
          <a:prstGeom prst="roundRect">
            <a:avLst>
              <a:gd name="adj" fmla="val 3750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27000" dist="38100" dir="5400000">
              <a:srgbClr val="1A27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514600"/>
            <a:ext cx="548640" cy="548640"/>
          </a:xfrm>
          <a:prstGeom prst="ellipse">
            <a:avLst/>
          </a:prstGeom>
          <a:solidFill>
            <a:srgbClr val="006FCF"/>
          </a:solidFill>
          <a:ln/>
        </p:spPr>
      </p:sp>
      <p:pic>
        <p:nvPicPr>
          <p:cNvPr id="7" name="Image 0" descr="/home/claude/work/icons/m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63347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320040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(XGBoost)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9808" y="3703320"/>
            <a:ext cx="213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non-linear interactions between spend, risk, and engagement directly from the top-20% labels.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01568" y="2286000"/>
            <a:ext cx="2532888" cy="2194560"/>
          </a:xfrm>
          <a:prstGeom prst="roundRect">
            <a:avLst>
              <a:gd name="adj" fmla="val 3750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27000" dist="38100" dir="5400000">
              <a:srgbClr val="1A2733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0168" y="2514600"/>
            <a:ext cx="548640" cy="548640"/>
          </a:xfrm>
          <a:prstGeom prst="ellipse">
            <a:avLst/>
          </a:prstGeom>
          <a:solidFill>
            <a:srgbClr val="006FCF"/>
          </a:solidFill>
          <a:ln/>
        </p:spPr>
      </p:sp>
      <p:pic>
        <p:nvPicPr>
          <p:cNvPr id="12" name="Image 1" descr="/home/claude/work/icons/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63347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02736" y="320040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602736" y="3703320"/>
            <a:ext cx="213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training at 500K-row scale, well-suited for periodic model refresh in production.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54496" y="2286000"/>
            <a:ext cx="2532888" cy="2194560"/>
          </a:xfrm>
          <a:prstGeom prst="roundRect">
            <a:avLst>
              <a:gd name="adj" fmla="val 3750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27000" dist="38100" dir="5400000">
              <a:srgbClr val="1A2733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83096" y="2514600"/>
            <a:ext cx="548640" cy="548640"/>
          </a:xfrm>
          <a:prstGeom prst="ellipse">
            <a:avLst/>
          </a:prstGeom>
          <a:solidFill>
            <a:srgbClr val="006FCF"/>
          </a:solidFill>
          <a:ln/>
        </p:spPr>
      </p:sp>
      <p:pic>
        <p:nvPicPr>
          <p:cNvPr id="17" name="Image 2" descr="/home/claude/work/icons/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2633472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55664" y="320040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55664" y="3703320"/>
            <a:ext cx="213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complex, high-order feature interactions once more labeled outcome data is available.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107424" y="2286000"/>
            <a:ext cx="2532888" cy="2194560"/>
          </a:xfrm>
          <a:prstGeom prst="roundRect">
            <a:avLst>
              <a:gd name="adj" fmla="val 3750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27000" dist="38100" dir="5400000">
              <a:srgbClr val="1A2733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36024" y="2514600"/>
            <a:ext cx="548640" cy="548640"/>
          </a:xfrm>
          <a:prstGeom prst="ellipse">
            <a:avLst/>
          </a:prstGeom>
          <a:solidFill>
            <a:srgbClr val="006FCF"/>
          </a:solidFill>
          <a:ln/>
        </p:spPr>
      </p:sp>
      <p:pic>
        <p:nvPicPr>
          <p:cNvPr id="22" name="Image 3" descr="/home/claude/work/icons/m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4896" y="2633472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08592" y="320040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Models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9308592" y="3703320"/>
            <a:ext cx="213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time-to-attrition and time-to-default directly, adding a temporal dimension to profitability.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48640" y="475488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EAF3FC"/>
          </a:solidFill>
          <a:ln/>
        </p:spPr>
      </p:sp>
      <p:pic>
        <p:nvPicPr>
          <p:cNvPr id="26" name="Image 4" descr="/home/claude/work/icons/ins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992624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4846320"/>
            <a:ext cx="10085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optimization path: use the current equation as an explainable baseline, then layer ML models trained against the public 70% split — validating any accuracy gain against interpretability before deployment.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7159752" y="6473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Express Campus Challenge 2026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2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-1371600" y="3840480"/>
            <a:ext cx="5943600" cy="5943600"/>
          </a:xfrm>
          <a:prstGeom prst="roundRect">
            <a:avLst>
              <a:gd name="adj" fmla="val 9231"/>
            </a:avLst>
          </a:prstGeom>
          <a:solidFill>
            <a:srgbClr val="006FCF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C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Maximizing lifetime value through intelligent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profitability ranking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567178" cy="2331720"/>
          </a:xfrm>
          <a:prstGeom prst="roundRect">
            <a:avLst>
              <a:gd name="adj" fmla="val 3529"/>
            </a:avLst>
          </a:prstGeom>
          <a:solidFill>
            <a:srgbClr val="013568"/>
          </a:solidFill>
          <a:ln/>
        </p:spPr>
      </p:sp>
      <p:sp>
        <p:nvSpPr>
          <p:cNvPr id="6" name="Shape 4"/>
          <p:cNvSpPr/>
          <p:nvPr/>
        </p:nvSpPr>
        <p:spPr>
          <a:xfrm>
            <a:off x="1557909" y="2953512"/>
            <a:ext cx="548640" cy="548640"/>
          </a:xfrm>
          <a:prstGeom prst="ellipse">
            <a:avLst/>
          </a:prstGeom>
          <a:solidFill>
            <a:srgbClr val="006FCF"/>
          </a:solidFill>
          <a:ln/>
        </p:spPr>
      </p:sp>
      <p:pic>
        <p:nvPicPr>
          <p:cNvPr id="7" name="Image 0" descr="/home/claude/work/icons/fin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925" y="308152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630168"/>
            <a:ext cx="2292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3977640"/>
            <a:ext cx="22014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component maps to a clear business rationale.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90138" y="2697480"/>
            <a:ext cx="2567178" cy="2331720"/>
          </a:xfrm>
          <a:prstGeom prst="roundRect">
            <a:avLst>
              <a:gd name="adj" fmla="val 3529"/>
            </a:avLst>
          </a:prstGeom>
          <a:solidFill>
            <a:srgbClr val="013568"/>
          </a:solidFill>
          <a:ln/>
        </p:spPr>
      </p:sp>
      <p:sp>
        <p:nvSpPr>
          <p:cNvPr id="11" name="Shape 8"/>
          <p:cNvSpPr/>
          <p:nvPr/>
        </p:nvSpPr>
        <p:spPr>
          <a:xfrm>
            <a:off x="4399407" y="2953512"/>
            <a:ext cx="548640" cy="548640"/>
          </a:xfrm>
          <a:prstGeom prst="ellipse">
            <a:avLst/>
          </a:prstGeom>
          <a:solidFill>
            <a:srgbClr val="006FCF"/>
          </a:solidFill>
          <a:ln/>
        </p:spPr>
      </p:sp>
      <p:pic>
        <p:nvPicPr>
          <p:cNvPr id="12" name="Image 1" descr="/home/claude/work/icons/engine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423" y="308152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7298" y="3630168"/>
            <a:ext cx="2292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Business-Driven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73018" y="3977640"/>
            <a:ext cx="22014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revenue, cost, risk, and engagement logic — not a black box.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31636" y="2697480"/>
            <a:ext cx="2567178" cy="2331720"/>
          </a:xfrm>
          <a:prstGeom prst="roundRect">
            <a:avLst>
              <a:gd name="adj" fmla="val 3529"/>
            </a:avLst>
          </a:prstGeom>
          <a:solidFill>
            <a:srgbClr val="013568"/>
          </a:solidFill>
          <a:ln/>
        </p:spPr>
      </p:sp>
      <p:sp>
        <p:nvSpPr>
          <p:cNvPr id="16" name="Shape 12"/>
          <p:cNvSpPr/>
          <p:nvPr/>
        </p:nvSpPr>
        <p:spPr>
          <a:xfrm>
            <a:off x="7240905" y="2953512"/>
            <a:ext cx="548640" cy="548640"/>
          </a:xfrm>
          <a:prstGeom prst="ellipse">
            <a:avLst/>
          </a:prstGeom>
          <a:solidFill>
            <a:srgbClr val="006FCF"/>
          </a:solidFill>
          <a:ln/>
        </p:spPr>
      </p:sp>
      <p:pic>
        <p:nvPicPr>
          <p:cNvPr id="17" name="Image 2" descr="/home/claude/work/icons/ra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921" y="308152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68796" y="3630168"/>
            <a:ext cx="2292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14516" y="3977640"/>
            <a:ext cx="22014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Rank-based design generalizes cleanly across future portfolios.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073134" y="2697480"/>
            <a:ext cx="2567178" cy="2331720"/>
          </a:xfrm>
          <a:prstGeom prst="roundRect">
            <a:avLst>
              <a:gd name="adj" fmla="val 3529"/>
            </a:avLst>
          </a:prstGeom>
          <a:solidFill>
            <a:srgbClr val="013568"/>
          </a:solidFill>
          <a:ln/>
        </p:spPr>
      </p:sp>
      <p:sp>
        <p:nvSpPr>
          <p:cNvPr id="21" name="Shape 16"/>
          <p:cNvSpPr/>
          <p:nvPr/>
        </p:nvSpPr>
        <p:spPr>
          <a:xfrm>
            <a:off x="10082403" y="2953512"/>
            <a:ext cx="548640" cy="548640"/>
          </a:xfrm>
          <a:prstGeom prst="ellipse">
            <a:avLst/>
          </a:prstGeom>
          <a:solidFill>
            <a:srgbClr val="006FCF"/>
          </a:solidFill>
          <a:ln/>
        </p:spPr>
      </p:sp>
      <p:pic>
        <p:nvPicPr>
          <p:cNvPr id="22" name="Image 3" descr="/home/claude/work/icons/custom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0419" y="308152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10294" y="3630168"/>
            <a:ext cx="2292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256014" y="3977640"/>
            <a:ext cx="22014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informs retention, upsell, and risk-management decisions.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822960" y="5532120"/>
            <a:ext cx="2194560" cy="0"/>
          </a:xfrm>
          <a:prstGeom prst="line">
            <a:avLst/>
          </a:prstGeom>
          <a:noFill/>
          <a:ln w="12700">
            <a:solidFill>
              <a:srgbClr val="3D6FA8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22960" y="56692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822960" y="61996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____________  |  American Express Campus Challenge 2026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model outputs and supplementary analysis</a:t>
            </a:r>
            <a:endParaRPr lang="en-US" sz="3000" dirty="0"/>
          </a:p>
        </p:txBody>
      </p:sp>
      <p:pic>
        <p:nvPicPr>
          <p:cNvPr id="100" name="Appendix Image 0" descr="Supplementary EDA — Top / Bottom Score Extracts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023" y="1450000"/>
            <a:ext cx="3357553" cy="2029960"/>
          </a:xfrm>
          <a:prstGeom prst="rect">
            <a:avLst/>
          </a:prstGeom>
          <a:ln w="9525">
            <a:solidFill>
              <a:srgbClr val="D9E2EC"/>
            </a:solidFill>
          </a:ln>
        </p:spPr>
      </p:pic>
      <p:sp>
        <p:nvSpPr>
          <p:cNvPr id="101" name="Caption 0"/>
          <p:cNvSpPr/>
          <p:nvPr/>
        </p:nvSpPr>
        <p:spPr>
          <a:xfrm>
            <a:off x="548640" y="3509960"/>
            <a:ext cx="357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</a:rPr>
              <a:t>Fig. 4a — Supplementary EDA — Top / Bottom Score Extracts</a:t>
            </a:r>
          </a:p>
        </p:txBody>
      </p:sp>
      <p:pic>
        <p:nvPicPr>
          <p:cNvPr id="102" name="Appendix Image 1" descr="Extended Correlation Structure Across Engineered Features"/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874979" y="1450000"/>
            <a:ext cx="2442041" cy="2029960"/>
          </a:xfrm>
          <a:prstGeom prst="rect">
            <a:avLst/>
          </a:prstGeom>
          <a:ln w="9525">
            <a:solidFill>
              <a:srgbClr val="D9E2EC"/>
            </a:solidFill>
          </a:ln>
        </p:spPr>
      </p:pic>
      <p:sp>
        <p:nvSpPr>
          <p:cNvPr id="103" name="Caption 1"/>
          <p:cNvSpPr/>
          <p:nvPr/>
        </p:nvSpPr>
        <p:spPr>
          <a:xfrm>
            <a:off x="4307840" y="3509960"/>
            <a:ext cx="357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</a:rPr>
              <a:t>Fig. 4b — Extended Correlation Structure Across Engineered Features</a:t>
            </a:r>
          </a:p>
        </p:txBody>
      </p:sp>
      <p:pic>
        <p:nvPicPr>
          <p:cNvPr id="104" name="Appendix Image 2" descr="Customer Value vs. Expected Loss — Full Population Scatter"/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721467" y="1450000"/>
            <a:ext cx="2267465" cy="2029960"/>
          </a:xfrm>
          <a:prstGeom prst="rect">
            <a:avLst/>
          </a:prstGeom>
          <a:ln w="9525">
            <a:solidFill>
              <a:srgbClr val="D9E2EC"/>
            </a:solidFill>
          </a:ln>
        </p:spPr>
      </p:pic>
      <p:sp>
        <p:nvSpPr>
          <p:cNvPr id="105" name="Caption 2"/>
          <p:cNvSpPr/>
          <p:nvPr/>
        </p:nvSpPr>
        <p:spPr>
          <a:xfrm>
            <a:off x="8067040" y="3509960"/>
            <a:ext cx="357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</a:rPr>
              <a:t>Fig. 4c — Customer Value vs. Expected Loss — Full Population Scatter</a:t>
            </a:r>
          </a:p>
        </p:txBody>
      </p:sp>
      <p:pic>
        <p:nvPicPr>
          <p:cNvPr id="106" name="Appendix Image 3" descr="Model Output Console — Top 10 Ranked Customers"/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48640" y="4055725"/>
            <a:ext cx="3576320" cy="1701389"/>
          </a:xfrm>
          <a:prstGeom prst="rect">
            <a:avLst/>
          </a:prstGeom>
          <a:ln w="9525">
            <a:solidFill>
              <a:srgbClr val="D9E2EC"/>
            </a:solidFill>
          </a:ln>
        </p:spPr>
      </p:pic>
      <p:sp>
        <p:nvSpPr>
          <p:cNvPr id="107" name="Caption 3"/>
          <p:cNvSpPr/>
          <p:nvPr/>
        </p:nvSpPr>
        <p:spPr>
          <a:xfrm>
            <a:off x="548640" y="5951400"/>
            <a:ext cx="357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</a:rPr>
              <a:t>Fig. 4d — Model Output Console — Top 10 Ranked Customers</a:t>
            </a:r>
          </a:p>
        </p:txBody>
      </p:sp>
      <p:pic>
        <p:nvPicPr>
          <p:cNvPr id="108" name="Appendix Image 4" descr="Score Summary Statistics (describe())"/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832350" y="3891440"/>
            <a:ext cx="2527300" cy="2029960"/>
          </a:xfrm>
          <a:prstGeom prst="rect">
            <a:avLst/>
          </a:prstGeom>
          <a:ln w="9525">
            <a:solidFill>
              <a:srgbClr val="D9E2EC"/>
            </a:solidFill>
          </a:ln>
        </p:spPr>
      </p:pic>
      <p:sp>
        <p:nvSpPr>
          <p:cNvPr id="109" name="Caption 4"/>
          <p:cNvSpPr/>
          <p:nvPr/>
        </p:nvSpPr>
        <p:spPr>
          <a:xfrm>
            <a:off x="4307840" y="5951400"/>
            <a:ext cx="357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</a:rPr>
              <a:t>Fig. 4e — Score Summary Statistics (describe())</a:t>
            </a:r>
          </a:p>
        </p:txBody>
      </p:sp>
      <p:pic>
        <p:nvPicPr>
          <p:cNvPr id="110" name="Appendix Image 5" descr="Bottom 10 Ranked Customers — Lowest Profitability"/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772216" y="3891440"/>
            <a:ext cx="2165967" cy="2029960"/>
          </a:xfrm>
          <a:prstGeom prst="rect">
            <a:avLst/>
          </a:prstGeom>
          <a:ln w="9525">
            <a:solidFill>
              <a:srgbClr val="D9E2EC"/>
            </a:solidFill>
          </a:ln>
        </p:spPr>
      </p:pic>
      <p:sp>
        <p:nvSpPr>
          <p:cNvPr id="111" name="Caption 5"/>
          <p:cNvSpPr/>
          <p:nvPr/>
        </p:nvSpPr>
        <p:spPr>
          <a:xfrm>
            <a:off x="8067040" y="5951400"/>
            <a:ext cx="357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</a:rPr>
              <a:t>Fig. 4f — Bottom 10 Ranked Customers — Lowest Profitability</a:t>
            </a:r>
          </a:p>
        </p:txBody>
      </p:sp>
      <p:sp>
        <p:nvSpPr>
          <p:cNvPr id="200" name="Footer Left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2A3"/>
                </a:solidFill>
                <a:latin typeface="Calibri" pitchFamily="34" charset="0"/>
              </a:rPr>
              <a:t>Appendix</a:t>
            </a:r>
          </a:p>
        </p:txBody>
      </p:sp>
      <p:sp>
        <p:nvSpPr>
          <p:cNvPr id="201" name="Footer Center"/>
          <p:cNvSpPr/>
          <p:nvPr/>
        </p:nvSpPr>
        <p:spPr>
          <a:xfrm>
            <a:off x="7159752" y="6473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 algn="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3"/>
                </a:solidFill>
                <a:latin typeface="Calibri" pitchFamily="34" charset="0"/>
              </a:rPr>
              <a:t>American Express Campus Challenge 2026</a:t>
            </a:r>
          </a:p>
        </p:txBody>
      </p:sp>
      <p:sp>
        <p:nvSpPr>
          <p:cNvPr id="202" name="Footer Page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 algn="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3"/>
                </a:solidFill>
                <a:latin typeface="Calibri" pitchFamily="34" charset="0"/>
              </a:rPr>
              <a:t>16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Profitability Ranking Framework</dc:title>
  <dc:subject>PptxGenJS Presentation</dc:subject>
  <dc:creator>Team</dc:creator>
  <cp:lastModifiedBy>Team</cp:lastModifiedBy>
  <cp:revision>1</cp:revision>
  <dcterms:created xsi:type="dcterms:W3CDTF">2026-07-06T08:10:00Z</dcterms:created>
  <dcterms:modified xsi:type="dcterms:W3CDTF">2026-07-06T08:10:00Z</dcterms:modified>
</cp:coreProperties>
</file>